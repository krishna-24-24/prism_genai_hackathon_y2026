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- 01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Agentic Code Intelligence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– VIT VELLORE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Krishna &amp; krishna.2024@vitstudent.ac.in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https://github.com/Krishna-24-24/PRISM_GENAI_HACKATHON_Y2026</a:t>
            </a:r>
            <a:endParaRPr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411480" y="1572768"/>
            <a:ext cx="11384280" cy="505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r>
              <a:rPr lang="en-IN" b="1" dirty="0"/>
              <a:t>Theme 01: Agentic Code Intelligence</a:t>
            </a:r>
          </a:p>
          <a:p>
            <a:r>
              <a:rPr lang="en-IN" b="1" dirty="0"/>
              <a:t>Problem</a:t>
            </a:r>
          </a:p>
          <a:p>
            <a:pPr marL="114300" indent="0">
              <a:buNone/>
            </a:pPr>
            <a:r>
              <a:rPr lang="en-IN" dirty="0"/>
              <a:t>Modern software repositories contain </a:t>
            </a:r>
            <a:r>
              <a:rPr lang="en-IN" b="1" dirty="0"/>
              <a:t>thousands of files, functions and code snippets</a:t>
            </a:r>
            <a:r>
              <a:rPr lang="en-IN" dirty="0"/>
              <a:t>, making it difficult for developers to locate the exact code relevant to a natural-language query.</a:t>
            </a:r>
          </a:p>
          <a:p>
            <a:pPr marL="114300" indent="0">
              <a:buNone/>
            </a:pPr>
            <a:r>
              <a:rPr lang="en-IN" dirty="0"/>
              <a:t>Traditional code search often struggles with:</a:t>
            </a:r>
          </a:p>
          <a:p>
            <a:pPr marL="114300" lvl="0" indent="0">
              <a:buNone/>
            </a:pPr>
            <a:r>
              <a:rPr lang="en-IN" dirty="0"/>
              <a:t>Semantic understanding of developer queries </a:t>
            </a:r>
          </a:p>
          <a:p>
            <a:pPr marL="114300" lvl="0" indent="0">
              <a:buNone/>
            </a:pPr>
            <a:r>
              <a:rPr lang="en-IN" dirty="0"/>
              <a:t>Exact identifiers and API names </a:t>
            </a:r>
          </a:p>
          <a:p>
            <a:pPr marL="114300" lvl="0" indent="0">
              <a:buNone/>
            </a:pPr>
            <a:r>
              <a:rPr lang="en-IN" dirty="0"/>
              <a:t>Structural relationships between functions/files </a:t>
            </a:r>
          </a:p>
          <a:p>
            <a:pPr marL="114300" lvl="0" indent="0">
              <a:buNone/>
            </a:pPr>
            <a:r>
              <a:rPr lang="en-IN" dirty="0"/>
              <a:t>Long and evolving codebases </a:t>
            </a:r>
          </a:p>
          <a:p>
            <a:pPr marL="114300" lvl="0" indent="0">
              <a:buNone/>
            </a:pPr>
            <a:r>
              <a:rPr lang="en-IN" dirty="0"/>
              <a:t>Balancing retrieval accuracy with CPU-friendly latency </a:t>
            </a:r>
          </a:p>
          <a:p>
            <a:pPr marL="114300" lvl="0" indent="0">
              <a:buNone/>
            </a:pPr>
            <a:endParaRPr lang="en-IN" dirty="0"/>
          </a:p>
          <a:p>
            <a:r>
              <a:rPr lang="en-IN" b="1" dirty="0"/>
              <a:t>Objective</a:t>
            </a:r>
          </a:p>
          <a:p>
            <a:pPr marL="114300" indent="0">
              <a:buNone/>
            </a:pPr>
            <a:r>
              <a:rPr lang="en-IN" dirty="0"/>
              <a:t>Build an </a:t>
            </a:r>
            <a:r>
              <a:rPr lang="en-IN" b="1" dirty="0"/>
              <a:t>agentic code retrieval and ranking system</a:t>
            </a:r>
            <a:r>
              <a:rPr lang="en-IN" dirty="0"/>
              <a:t> that:</a:t>
            </a:r>
          </a:p>
          <a:p>
            <a:pPr marL="114300" indent="0">
              <a:buNone/>
            </a:pPr>
            <a:r>
              <a:rPr lang="en-IN" b="1" dirty="0"/>
              <a:t>Understands the query → searches using multiple signals → inspects candidates → refines retrieval → ranks the most relevant code.</a:t>
            </a:r>
          </a:p>
          <a:p>
            <a:pPr marL="114300" indent="0">
              <a:buNone/>
            </a:pPr>
            <a:endParaRPr lang="en-IN" dirty="0"/>
          </a:p>
          <a:p>
            <a:r>
              <a:rPr lang="en-IN" b="1" dirty="0"/>
              <a:t>Target</a:t>
            </a:r>
          </a:p>
          <a:p>
            <a:pPr marL="114300" indent="0">
              <a:buNone/>
            </a:pPr>
            <a:r>
              <a:rPr lang="en-IN" b="1" dirty="0"/>
              <a:t>High-quality Top-K code retrieval using NDCG@10 and MRR</a:t>
            </a:r>
            <a:r>
              <a:rPr lang="en-IN" dirty="0"/>
              <a:t>, while remaining practical for CPU-based execution.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1400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IN" sz="1400" dirty="0"/>
            </a:br>
            <a:endParaRPr sz="1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32E053-AE8F-F1F7-EDD7-FDAA09270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627385"/>
              </p:ext>
            </p:extLst>
          </p:nvPr>
        </p:nvGraphicFramePr>
        <p:xfrm>
          <a:off x="838200" y="1405001"/>
          <a:ext cx="10515600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86524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06709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344744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5850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Keyword / grep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Exact matches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 semantic understanding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16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BM25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 lexical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Misses semantic similarity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511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Dense 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Semantic 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miss exact identifiers/structure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81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Vector-only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Scales semantic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 for code-specific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0804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Static code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query adaptation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393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Single-pass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Cannot recover from poor initial candidates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97217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F9DF018-DD73-861B-E273-20D13D7272DD}"/>
              </a:ext>
            </a:extLst>
          </p:cNvPr>
          <p:cNvSpPr txBox="1"/>
          <p:nvPr/>
        </p:nvSpPr>
        <p:spPr>
          <a:xfrm>
            <a:off x="838200" y="3855688"/>
            <a:ext cx="10515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Gap- No single retrieval signal is sufficient for diverse developer queries.</a:t>
            </a:r>
            <a:endParaRPr lang="en-IN" dirty="0"/>
          </a:p>
          <a:p>
            <a:pPr>
              <a:buNone/>
            </a:pPr>
            <a:r>
              <a:rPr lang="en-IN" dirty="0"/>
              <a:t>A query such as:</a:t>
            </a:r>
          </a:p>
          <a:p>
            <a:pPr>
              <a:buNone/>
            </a:pPr>
            <a:r>
              <a:rPr lang="en-IN" dirty="0"/>
              <a:t>“Where is Bluetooth-settings </a:t>
            </a:r>
            <a:r>
              <a:rPr lang="en-IN" dirty="0" err="1"/>
              <a:t>deeplink</a:t>
            </a:r>
            <a:r>
              <a:rPr lang="en-IN" dirty="0"/>
              <a:t> used?”</a:t>
            </a:r>
          </a:p>
          <a:p>
            <a:pPr>
              <a:buNone/>
            </a:pPr>
            <a:r>
              <a:rPr lang="en-IN" dirty="0"/>
              <a:t>may require: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lexical matching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semantic similarity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identifier matching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structural context </a:t>
            </a:r>
          </a:p>
          <a:p>
            <a:pPr lvl="0"/>
            <a:endParaRPr lang="en-IN" dirty="0"/>
          </a:p>
          <a:p>
            <a:pPr>
              <a:buNone/>
            </a:pPr>
            <a:r>
              <a:rPr lang="en-IN" b="1" dirty="0"/>
              <a:t>TRACEIQ Approach</a:t>
            </a:r>
          </a:p>
          <a:p>
            <a:pPr>
              <a:buNone/>
            </a:pPr>
            <a:r>
              <a:rPr lang="en-IN" b="1" dirty="0"/>
              <a:t>Hybrid + Adaptive + Agentic Retrieval</a:t>
            </a:r>
            <a:endParaRPr lang="en-IN" dirty="0"/>
          </a:p>
          <a:p>
            <a:pPr>
              <a:buNone/>
            </a:pPr>
            <a:r>
              <a:rPr lang="en-IN" dirty="0"/>
              <a:t>Instead of relying on one search method, TRACEIQ dynamically combines multiple retrieval signals and iteratively improves the candidate 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Architecture Diagram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266558-84E3-BB18-6420-CF687B4CE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524" y="1825625"/>
            <a:ext cx="3596952" cy="42751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56D1F-AC63-3DB7-D60E-2490F01B1AFC}"/>
              </a:ext>
            </a:extLst>
          </p:cNvPr>
          <p:cNvSpPr txBox="1"/>
          <p:nvPr/>
        </p:nvSpPr>
        <p:spPr>
          <a:xfrm>
            <a:off x="838200" y="1690688"/>
            <a:ext cx="6096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TRACEIQ Developer Search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1. Enter Query</a:t>
            </a:r>
            <a:br>
              <a:rPr lang="en-IN" dirty="0"/>
            </a:br>
            <a:r>
              <a:rPr lang="en-IN" dirty="0"/>
              <a:t>Natural-language code search</a:t>
            </a:r>
          </a:p>
          <a:p>
            <a:pPr>
              <a:buNone/>
            </a:pPr>
            <a:r>
              <a:rPr lang="en-IN" b="1" dirty="0"/>
              <a:t>2. Query Understanding</a:t>
            </a:r>
            <a:br>
              <a:rPr lang="en-IN" dirty="0"/>
            </a:br>
            <a:r>
              <a:rPr lang="en-IN" dirty="0"/>
              <a:t>Classifies query intent and selects retrieval strategies</a:t>
            </a:r>
          </a:p>
          <a:p>
            <a:pPr>
              <a:buNone/>
            </a:pPr>
            <a:r>
              <a:rPr lang="en-IN" b="1" dirty="0"/>
              <a:t>3. Multi-Channel Retrieval</a:t>
            </a:r>
            <a:br>
              <a:rPr lang="en-IN" dirty="0"/>
            </a:br>
            <a:r>
              <a:rPr lang="en-IN" dirty="0"/>
              <a:t>BM25 + Dense + Identifier + Structural search</a:t>
            </a:r>
          </a:p>
          <a:p>
            <a:pPr>
              <a:buNone/>
            </a:pPr>
            <a:r>
              <a:rPr lang="en-IN" b="1" dirty="0"/>
              <a:t>4. Agentic Refinement</a:t>
            </a:r>
            <a:br>
              <a:rPr lang="en-IN" dirty="0"/>
            </a:br>
            <a:r>
              <a:rPr lang="en-IN" dirty="0" err="1"/>
              <a:t>Analyze</a:t>
            </a:r>
            <a:r>
              <a:rPr lang="en-IN" dirty="0"/>
              <a:t> → Search → Inspect → Refine</a:t>
            </a:r>
          </a:p>
          <a:p>
            <a:pPr>
              <a:buNone/>
            </a:pPr>
            <a:r>
              <a:rPr lang="en-IN" b="1" dirty="0"/>
              <a:t>5. Ranked Results</a:t>
            </a:r>
            <a:br>
              <a:rPr lang="en-IN" dirty="0"/>
            </a:br>
            <a:r>
              <a:rPr lang="en-IN" dirty="0"/>
              <a:t>File • Function • Lines • Score • Relevant Code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Demo Queries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i="1" dirty="0"/>
              <a:t>How is input </a:t>
            </a:r>
            <a:r>
              <a:rPr lang="en-IN" i="1" dirty="0" err="1"/>
              <a:t>preprocessed</a:t>
            </a:r>
            <a:r>
              <a:rPr lang="en-IN" i="1" dirty="0"/>
              <a:t> before main?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i="1" dirty="0"/>
              <a:t>Where is Bluetooth-settings </a:t>
            </a:r>
            <a:r>
              <a:rPr lang="en-IN" i="1" dirty="0" err="1"/>
              <a:t>deeplink</a:t>
            </a:r>
            <a:r>
              <a:rPr lang="en-IN" i="1" dirty="0"/>
              <a:t> used?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i="1" dirty="0"/>
              <a:t>Which files call XYZ before ABC?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 dirty="0">
              <a:solidFill>
                <a:srgbClr val="704EA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056A4B-25CB-B4A0-43BE-296AE47F2DA3}"/>
              </a:ext>
            </a:extLst>
          </p:cNvPr>
          <p:cNvSpPr txBox="1"/>
          <p:nvPr/>
        </p:nvSpPr>
        <p:spPr>
          <a:xfrm>
            <a:off x="711200" y="1476117"/>
            <a:ext cx="418592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00" b="1" dirty="0"/>
              <a:t>Backend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b="1" dirty="0"/>
              <a:t>Python</a:t>
            </a:r>
            <a:r>
              <a:rPr lang="en-IN" sz="1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b="1" dirty="0" err="1"/>
              <a:t>FastAPI</a:t>
            </a:r>
            <a:r>
              <a:rPr lang="en-IN" sz="1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/>
              <a:t>REST APIs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/>
              <a:t>Modular retrieval pipeline </a:t>
            </a:r>
          </a:p>
          <a:p>
            <a:pPr>
              <a:buNone/>
            </a:pPr>
            <a:r>
              <a:rPr lang="en-IN" sz="1000" b="1" dirty="0"/>
              <a:t>Code Intelligence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b="1" dirty="0"/>
              <a:t>JavaScript AST parsing</a:t>
            </a:r>
            <a:r>
              <a:rPr lang="en-IN" sz="1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/>
              <a:t>Tree-sitter / equivalent parser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/>
              <a:t>Symbol extraction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/>
              <a:t>Function/class metadata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/>
              <a:t>Structural relationships </a:t>
            </a:r>
          </a:p>
          <a:p>
            <a:pPr>
              <a:buNone/>
            </a:pPr>
            <a:r>
              <a:rPr lang="en-IN" sz="1000" b="1" dirty="0"/>
              <a:t>Retrieval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b="1" dirty="0"/>
              <a:t>BM25</a:t>
            </a:r>
            <a:r>
              <a:rPr lang="en-IN" sz="1000" dirty="0"/>
              <a:t> — lexical retrieval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b="1" dirty="0"/>
              <a:t>Dense embeddings</a:t>
            </a:r>
            <a:r>
              <a:rPr lang="en-IN" sz="1000" dirty="0"/>
              <a:t> — semantic retrieval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b="1" dirty="0"/>
              <a:t>Identifier retrieval</a:t>
            </a:r>
            <a:r>
              <a:rPr lang="en-IN" sz="1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b="1" dirty="0"/>
              <a:t>AST / structural signals</a:t>
            </a:r>
            <a:r>
              <a:rPr lang="en-IN" sz="1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b="1" dirty="0"/>
              <a:t>Hybrid candidate fusion</a:t>
            </a:r>
            <a:r>
              <a:rPr lang="en-IN" sz="1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b="1" dirty="0"/>
              <a:t>Reranking</a:t>
            </a:r>
            <a:r>
              <a:rPr lang="en-IN" sz="1000" dirty="0"/>
              <a:t> </a:t>
            </a:r>
          </a:p>
          <a:p>
            <a:pPr>
              <a:buNone/>
            </a:pPr>
            <a:r>
              <a:rPr lang="en-IN" sz="1000" b="1" dirty="0"/>
              <a:t>Vector / Search Infrastructure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/>
              <a:t>FAISS / equivalent vector index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/>
              <a:t>In-memory / persistent indexes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/>
              <a:t>Incremental indexing </a:t>
            </a:r>
          </a:p>
          <a:p>
            <a:pPr>
              <a:buNone/>
            </a:pPr>
            <a:r>
              <a:rPr lang="en-IN" sz="1000" b="1" dirty="0"/>
              <a:t>Frontend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b="1" dirty="0"/>
              <a:t>React</a:t>
            </a:r>
            <a:r>
              <a:rPr lang="en-IN" sz="1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b="1" dirty="0"/>
              <a:t>TypeScript</a:t>
            </a:r>
            <a:r>
              <a:rPr lang="en-IN" sz="1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/>
              <a:t>Developer-tool oriented UI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/>
              <a:t>Syntax-highlighted code viewer </a:t>
            </a:r>
          </a:p>
          <a:p>
            <a:pPr>
              <a:buNone/>
            </a:pPr>
            <a:r>
              <a:rPr lang="en-IN" sz="1000" b="1" dirty="0"/>
              <a:t>Engineering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/>
              <a:t>Git / GitHub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/>
              <a:t>Docker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/>
              <a:t>MTEB / </a:t>
            </a:r>
            <a:r>
              <a:rPr lang="en-IN" sz="1000" dirty="0" err="1"/>
              <a:t>CoIR</a:t>
            </a:r>
            <a:r>
              <a:rPr lang="en-IN" sz="1000" dirty="0"/>
              <a:t> evaluation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/>
              <a:t>CPU-oriented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 dirty="0">
              <a:solidFill>
                <a:srgbClr val="704EA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47C5E-D031-307E-53B9-3CD196FBB339}"/>
              </a:ext>
            </a:extLst>
          </p:cNvPr>
          <p:cNvSpPr txBox="1"/>
          <p:nvPr/>
        </p:nvSpPr>
        <p:spPr>
          <a:xfrm>
            <a:off x="838200" y="1690688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Developer Productivity</a:t>
            </a:r>
          </a:p>
          <a:p>
            <a:pPr>
              <a:buNone/>
            </a:pPr>
            <a:r>
              <a:rPr lang="en-IN" dirty="0"/>
              <a:t>Reduce the time required to locate relevant code in large repositories.</a:t>
            </a:r>
          </a:p>
          <a:p>
            <a:pPr>
              <a:buNone/>
            </a:pPr>
            <a:r>
              <a:rPr lang="en-IN" b="1" dirty="0"/>
              <a:t>2. Codebase Understanding</a:t>
            </a:r>
          </a:p>
          <a:p>
            <a:pPr>
              <a:buNone/>
            </a:pPr>
            <a:r>
              <a:rPr lang="en-IN" dirty="0"/>
              <a:t>Help developers navigate unfamiliar projects through natural-language queries.</a:t>
            </a:r>
          </a:p>
          <a:p>
            <a:pPr>
              <a:buNone/>
            </a:pPr>
            <a:r>
              <a:rPr lang="en-IN" b="1" dirty="0"/>
              <a:t>3. Debugging &amp; Maintenance</a:t>
            </a:r>
          </a:p>
          <a:p>
            <a:pPr>
              <a:buNone/>
            </a:pPr>
            <a:r>
              <a:rPr lang="en-IN" dirty="0"/>
              <a:t>Locate related implementations, usages and structural dependencies.</a:t>
            </a:r>
          </a:p>
          <a:p>
            <a:pPr>
              <a:buNone/>
            </a:pPr>
            <a:r>
              <a:rPr lang="en-IN" b="1" dirty="0"/>
              <a:t>4. Legacy Code Navigation</a:t>
            </a:r>
          </a:p>
          <a:p>
            <a:pPr>
              <a:buNone/>
            </a:pPr>
            <a:r>
              <a:rPr lang="en-IN" dirty="0"/>
              <a:t>Retrieve relevant functionality even when developers don't know exact filenames or identifiers.</a:t>
            </a:r>
          </a:p>
          <a:p>
            <a:pPr>
              <a:buNone/>
            </a:pPr>
            <a:r>
              <a:rPr lang="en-IN" b="1" dirty="0"/>
              <a:t>5. Version-Aware Code Search</a:t>
            </a:r>
          </a:p>
          <a:p>
            <a:pPr>
              <a:buNone/>
            </a:pPr>
            <a:r>
              <a:rPr lang="en-IN" dirty="0"/>
              <a:t>Maintain useful retrieval across evolving repository versions without rebuilding everything from scratch.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Target Users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Software developers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Code reviewers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QA / debugging teams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Engineering teams maintaining large repositories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Developers onboarding onto unfamiliar codebases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A4BE14-900C-00EB-E8DC-41C124082672}"/>
              </a:ext>
            </a:extLst>
          </p:cNvPr>
          <p:cNvSpPr txBox="1"/>
          <p:nvPr/>
        </p:nvSpPr>
        <p:spPr>
          <a:xfrm>
            <a:off x="838200" y="1787327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Innovation Highlights</a:t>
            </a:r>
          </a:p>
          <a:p>
            <a:pPr>
              <a:buNone/>
            </a:pPr>
            <a:endParaRPr lang="en-IN" sz="12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Adaptive Retrieval</a:t>
            </a:r>
            <a:r>
              <a:rPr lang="en-IN" sz="1200" dirty="0"/>
              <a:t> — Strategy changes based on query type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Hybrid Search</a:t>
            </a:r>
            <a:r>
              <a:rPr lang="en-IN" sz="1200" dirty="0"/>
              <a:t> — Lexical + Semantic + Structural signals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Agentic Loop</a:t>
            </a:r>
            <a:r>
              <a:rPr lang="en-IN" sz="1200" dirty="0"/>
              <a:t> — Search → Inspect → Refine → Search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Version-Aware</a:t>
            </a:r>
            <a:r>
              <a:rPr lang="en-IN" sz="1200" dirty="0"/>
              <a:t> — Efficient retrieval across code versions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CPU-Oriented</a:t>
            </a:r>
            <a:r>
              <a:rPr lang="en-IN" sz="1200" dirty="0"/>
              <a:t> — Designed for practical, low-resource execution </a:t>
            </a:r>
          </a:p>
          <a:p>
            <a:pPr>
              <a:buNone/>
            </a:pPr>
            <a:endParaRPr lang="en-IN" sz="1200" b="1" dirty="0"/>
          </a:p>
          <a:p>
            <a:pPr>
              <a:buNone/>
            </a:pPr>
            <a:endParaRPr lang="en-IN" sz="1200" b="1" dirty="0"/>
          </a:p>
          <a:p>
            <a:pPr>
              <a:buNone/>
            </a:pPr>
            <a:r>
              <a:rPr lang="en-IN" sz="1200" b="1" dirty="0"/>
              <a:t>Results</a:t>
            </a:r>
          </a:p>
          <a:p>
            <a:pPr>
              <a:buNone/>
            </a:pPr>
            <a:endParaRPr lang="en-IN" sz="1200" b="1" dirty="0"/>
          </a:p>
          <a:p>
            <a:r>
              <a:rPr lang="en-IN" sz="1200" b="1" dirty="0"/>
              <a:t>Best measured configuration: Dense Only (BGE-small)</a:t>
            </a:r>
            <a:endParaRPr lang="en-IN" sz="1200" dirty="0"/>
          </a:p>
          <a:p>
            <a:pPr lvl="0"/>
            <a:r>
              <a:rPr lang="en-IN" sz="1200" b="1" dirty="0"/>
              <a:t>NDCG@10:</a:t>
            </a:r>
            <a:r>
              <a:rPr lang="en-IN" sz="1200" dirty="0"/>
              <a:t> 0.0498 </a:t>
            </a:r>
          </a:p>
          <a:p>
            <a:pPr lvl="0"/>
            <a:r>
              <a:rPr lang="en-IN" sz="1200" b="1" dirty="0"/>
              <a:t>MRR:</a:t>
            </a:r>
            <a:r>
              <a:rPr lang="en-IN" sz="1200" dirty="0"/>
              <a:t> 0.0422 </a:t>
            </a:r>
          </a:p>
          <a:p>
            <a:pPr lvl="0"/>
            <a:r>
              <a:rPr lang="en-IN" sz="1200" b="1" dirty="0"/>
              <a:t>P50 Latency:</a:t>
            </a:r>
            <a:r>
              <a:rPr lang="en-IN" sz="1200" dirty="0"/>
              <a:t> 222 </a:t>
            </a:r>
            <a:r>
              <a:rPr lang="en-IN" sz="1200" dirty="0" err="1"/>
              <a:t>ms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P95 Latency:</a:t>
            </a:r>
            <a:r>
              <a:rPr lang="en-IN" sz="1200" dirty="0"/>
              <a:t> 283 </a:t>
            </a:r>
            <a:r>
              <a:rPr lang="en-IN" sz="1200" dirty="0" err="1"/>
              <a:t>ms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Index Size:</a:t>
            </a:r>
            <a:r>
              <a:rPr lang="en-IN" sz="1200" dirty="0"/>
              <a:t> 13.2 MB </a:t>
            </a:r>
          </a:p>
          <a:p>
            <a:r>
              <a:rPr lang="en-IN" sz="1200" b="1" dirty="0"/>
              <a:t>Key Finding:</a:t>
            </a:r>
          </a:p>
          <a:p>
            <a:r>
              <a:rPr lang="en-IN" sz="1200" dirty="0"/>
              <a:t>Dense retrieval achieved the strongest measured accuracy–latency trade-off in this ablation.</a:t>
            </a:r>
          </a:p>
          <a:p>
            <a:pPr>
              <a:buNone/>
            </a:pPr>
            <a:endParaRPr lang="en-IN" sz="1200" i="1" dirty="0"/>
          </a:p>
          <a:p>
            <a:pPr>
              <a:buNone/>
            </a:pPr>
            <a:endParaRPr lang="en-IN" sz="1200" i="1" dirty="0"/>
          </a:p>
          <a:p>
            <a:pPr>
              <a:buNone/>
            </a:pPr>
            <a:r>
              <a:rPr lang="en-IN" sz="1200" b="1" dirty="0"/>
              <a:t>Limitations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/>
              <a:t>Agentic refinement can increase latency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/>
              <a:t>Large repositories increase indexing cost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/>
              <a:t>Retrieval depends on code parsing/chunking 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B3DA3-FAFF-B8B0-06E8-2B035CBC4FEE}"/>
              </a:ext>
            </a:extLst>
          </p:cNvPr>
          <p:cNvSpPr txBox="1"/>
          <p:nvPr/>
        </p:nvSpPr>
        <p:spPr>
          <a:xfrm>
            <a:off x="838200" y="1412241"/>
            <a:ext cx="8691880" cy="520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/>
              <a:t>Phase 1 — Retrieval Quality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Improve query classification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Tune hybrid retrieval weights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Improve code chunking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Optimize reranking </a:t>
            </a:r>
          </a:p>
          <a:p>
            <a:pPr>
              <a:buNone/>
            </a:pPr>
            <a:r>
              <a:rPr lang="en-IN" sz="1100" b="1" dirty="0"/>
              <a:t>Phase 2 — Repository Evolution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Incremental indexing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Cross-version retrieval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Changed-function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Historical retrieval </a:t>
            </a:r>
          </a:p>
          <a:p>
            <a:pPr>
              <a:buNone/>
            </a:pPr>
            <a:r>
              <a:rPr lang="en-IN" sz="1100" b="1" dirty="0"/>
              <a:t>Phase 3 — Evolutionary Retrieval</a:t>
            </a:r>
          </a:p>
          <a:p>
            <a:pPr>
              <a:buNone/>
            </a:pPr>
            <a:r>
              <a:rPr lang="en-IN" sz="1100" dirty="0"/>
              <a:t>Learn from repository evolution:</a:t>
            </a:r>
          </a:p>
          <a:p>
            <a:pPr rtl="0">
              <a:buNone/>
            </a:pPr>
            <a:r>
              <a:rPr lang="en-IN" sz="1100" dirty="0">
                <a:latin typeface="Arial"/>
              </a:rPr>
              <a:t>Version N</a:t>
            </a:r>
          </a:p>
          <a:p>
            <a:pPr rtl="0">
              <a:buNone/>
            </a:pPr>
            <a:r>
              <a:rPr lang="en-IN" sz="1100" dirty="0">
                <a:latin typeface="Arial"/>
              </a:rPr>
              <a:t>   ↓</a:t>
            </a:r>
          </a:p>
          <a:p>
            <a:pPr rtl="0">
              <a:buNone/>
            </a:pPr>
            <a:r>
              <a:rPr lang="en-IN" sz="1100" dirty="0">
                <a:latin typeface="Arial"/>
              </a:rPr>
              <a:t>Code Changes</a:t>
            </a:r>
          </a:p>
          <a:p>
            <a:pPr rtl="0">
              <a:buNone/>
            </a:pPr>
            <a:r>
              <a:rPr lang="en-IN" sz="1100" dirty="0">
                <a:latin typeface="Arial"/>
              </a:rPr>
              <a:t>   ↓</a:t>
            </a:r>
          </a:p>
          <a:p>
            <a:pPr rtl="0">
              <a:buNone/>
            </a:pPr>
            <a:r>
              <a:rPr lang="en-IN" sz="1100" dirty="0">
                <a:latin typeface="Arial"/>
              </a:rPr>
              <a:t>Retrieve Related Historical Code</a:t>
            </a:r>
          </a:p>
          <a:p>
            <a:pPr rtl="0">
              <a:buNone/>
            </a:pPr>
            <a:r>
              <a:rPr lang="en-IN" sz="1100" dirty="0">
                <a:latin typeface="Arial"/>
              </a:rPr>
              <a:t>   ↓</a:t>
            </a:r>
          </a:p>
          <a:p>
            <a:pPr rtl="0">
              <a:buNone/>
            </a:pPr>
            <a:r>
              <a:rPr lang="en-IN" sz="1100" dirty="0">
                <a:latin typeface="Arial"/>
              </a:rPr>
              <a:t>Understand Evolution</a:t>
            </a:r>
          </a:p>
          <a:p>
            <a:pPr rtl="0">
              <a:buNone/>
            </a:pPr>
            <a:r>
              <a:rPr lang="en-IN" sz="1100" dirty="0">
                <a:latin typeface="Arial"/>
              </a:rPr>
              <a:t>   ↓</a:t>
            </a:r>
          </a:p>
          <a:p>
            <a:pPr rtl="0">
              <a:buNone/>
            </a:pPr>
            <a:r>
              <a:rPr lang="en-IN" sz="1100" dirty="0">
                <a:latin typeface="Arial"/>
              </a:rPr>
              <a:t>Improve Current Retrieval</a:t>
            </a:r>
          </a:p>
          <a:p>
            <a:pPr>
              <a:buNone/>
            </a:pPr>
            <a:r>
              <a:rPr lang="en-IN" sz="1100" b="1" dirty="0"/>
              <a:t>Phase 4 — </a:t>
            </a:r>
            <a:r>
              <a:rPr lang="en-IN" sz="1100" b="1" dirty="0" err="1"/>
              <a:t>Productionization</a:t>
            </a:r>
            <a:endParaRPr lang="en-IN" sz="11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Larger repository support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Distributed indexing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Persistent indexes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Enterprise authentication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100" dirty="0"/>
              <a:t>IDE integration </a:t>
            </a:r>
          </a:p>
          <a:p>
            <a:pPr>
              <a:buNone/>
            </a:pPr>
            <a:r>
              <a:rPr lang="en-IN" sz="1100" b="1" dirty="0"/>
              <a:t>Future Interface</a:t>
            </a:r>
          </a:p>
          <a:p>
            <a:pPr>
              <a:buNone/>
            </a:pPr>
            <a:r>
              <a:rPr lang="en-IN" sz="1100" b="1" dirty="0"/>
              <a:t>VS Code / IDE plugin</a:t>
            </a:r>
            <a:endParaRPr lang="en-IN" sz="1100" dirty="0"/>
          </a:p>
          <a:p>
            <a:pPr>
              <a:buNone/>
            </a:pPr>
            <a:r>
              <a:rPr lang="en-IN" sz="1100" dirty="0"/>
              <a:t>Search your repository directly from the developer workflow.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F8BC7-D9FB-750E-51DA-040F129BE2DB}"/>
              </a:ext>
            </a:extLst>
          </p:cNvPr>
          <p:cNvSpPr txBox="1"/>
          <p:nvPr/>
        </p:nvSpPr>
        <p:spPr>
          <a:xfrm>
            <a:off x="838200" y="1364000"/>
            <a:ext cx="688340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800" b="1" dirty="0"/>
              <a:t>Conventional Code Search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Query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 ↓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Single Search Method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 ↓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Results</a:t>
            </a:r>
          </a:p>
          <a:p>
            <a:pPr rtl="0">
              <a:buNone/>
            </a:pPr>
            <a:endParaRPr lang="en-IN" sz="800" dirty="0">
              <a:latin typeface="Arial"/>
            </a:endParaRPr>
          </a:p>
          <a:p>
            <a:pPr>
              <a:buNone/>
            </a:pPr>
            <a:r>
              <a:rPr lang="en-IN" sz="800" b="1" dirty="0"/>
              <a:t>TRACEIQ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Query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 ↓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Understand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 ↓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Classify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 ↓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Select Retrieval Strategy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 ↓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Search Multiple Channels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 ↓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Inspect Candidates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 ↓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Refine Query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 ↓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Fuse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 ↓</a:t>
            </a:r>
          </a:p>
          <a:p>
            <a:pPr rtl="0">
              <a:buNone/>
            </a:pPr>
            <a:r>
              <a:rPr lang="en-IN" sz="800" dirty="0" err="1">
                <a:latin typeface="Arial"/>
              </a:rPr>
              <a:t>Rerank</a:t>
            </a:r>
            <a:endParaRPr lang="en-IN" sz="800" dirty="0">
              <a:latin typeface="Arial"/>
            </a:endParaRPr>
          </a:p>
          <a:p>
            <a:pPr rtl="0">
              <a:buNone/>
            </a:pPr>
            <a:r>
              <a:rPr lang="en-IN" sz="800" dirty="0">
                <a:latin typeface="Arial"/>
              </a:rPr>
              <a:t> ↓</a:t>
            </a:r>
          </a:p>
          <a:p>
            <a:pPr rtl="0">
              <a:buNone/>
            </a:pPr>
            <a:r>
              <a:rPr lang="en-IN" sz="800" dirty="0">
                <a:latin typeface="Arial"/>
              </a:rPr>
              <a:t>Top-K</a:t>
            </a:r>
          </a:p>
          <a:p>
            <a:pPr rtl="0">
              <a:buNone/>
            </a:pPr>
            <a:endParaRPr lang="en-IN" sz="800" dirty="0">
              <a:latin typeface="Arial"/>
            </a:endParaRPr>
          </a:p>
          <a:p>
            <a:pPr>
              <a:buNone/>
            </a:pPr>
            <a:r>
              <a:rPr lang="en-IN" sz="800" b="1" dirty="0"/>
              <a:t>Differentiators</a:t>
            </a:r>
          </a:p>
          <a:p>
            <a:pPr>
              <a:buNone/>
            </a:pPr>
            <a:r>
              <a:rPr lang="en-IN" sz="800" b="1" dirty="0"/>
              <a:t>Adaptive</a:t>
            </a:r>
            <a:br>
              <a:rPr lang="en-IN" sz="800" dirty="0"/>
            </a:br>
            <a:r>
              <a:rPr lang="en-IN" sz="800" dirty="0"/>
              <a:t>Retrieval strategy changes according to query intent.</a:t>
            </a:r>
          </a:p>
          <a:p>
            <a:pPr>
              <a:buNone/>
            </a:pPr>
            <a:r>
              <a:rPr lang="en-IN" sz="800" b="1" dirty="0"/>
              <a:t>Hybrid</a:t>
            </a:r>
            <a:br>
              <a:rPr lang="en-IN" sz="800" dirty="0"/>
            </a:br>
            <a:r>
              <a:rPr lang="en-IN" sz="800" dirty="0"/>
              <a:t>Combines lexical, semantic, identifier and structural evidence.</a:t>
            </a:r>
          </a:p>
          <a:p>
            <a:pPr>
              <a:buNone/>
            </a:pPr>
            <a:r>
              <a:rPr lang="en-IN" sz="800" b="1" dirty="0"/>
              <a:t>Agentic</a:t>
            </a:r>
            <a:br>
              <a:rPr lang="en-IN" sz="800" dirty="0"/>
            </a:br>
            <a:r>
              <a:rPr lang="en-IN" sz="800" dirty="0"/>
              <a:t>Can iteratively inspect and refine retrieval rather than stopping after one search.</a:t>
            </a:r>
          </a:p>
          <a:p>
            <a:pPr>
              <a:buNone/>
            </a:pPr>
            <a:r>
              <a:rPr lang="en-IN" sz="800" b="1" dirty="0"/>
              <a:t>Version-Aware</a:t>
            </a:r>
            <a:br>
              <a:rPr lang="en-IN" sz="800" dirty="0"/>
            </a:br>
            <a:r>
              <a:rPr lang="en-IN" sz="800" dirty="0"/>
              <a:t>Designed to handle evolving repositories efficiently.</a:t>
            </a:r>
          </a:p>
          <a:p>
            <a:pPr>
              <a:buNone/>
            </a:pPr>
            <a:r>
              <a:rPr lang="en-IN" sz="800" b="1" dirty="0"/>
              <a:t>CPU-Oriented</a:t>
            </a:r>
            <a:br>
              <a:rPr lang="en-IN" sz="800" dirty="0"/>
            </a:br>
            <a:r>
              <a:rPr lang="en-IN" sz="800" dirty="0"/>
              <a:t>Designed around practical retrieval rather than GPU-heavy generation.</a:t>
            </a:r>
          </a:p>
          <a:p>
            <a:pPr>
              <a:buNone/>
            </a:pPr>
            <a:r>
              <a:rPr lang="en-IN" sz="800" b="1" dirty="0"/>
              <a:t>Evaluation-Driven</a:t>
            </a:r>
            <a:br>
              <a:rPr lang="en-IN" sz="800" dirty="0"/>
            </a:br>
            <a:r>
              <a:rPr lang="en-IN" sz="800" dirty="0"/>
              <a:t>Every major retrieval component is validated using MRR, NDCG@10 and latency.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(Y/N) - Yes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(Y/N) - Yes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 - Yes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(Y/N) - Yes</a:t>
            </a:r>
            <a:endParaRPr sz="2800" dirty="0"/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 dirty="0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</a:t>
            </a:r>
            <a:r>
              <a:rPr lang="en-US" sz="11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by the Language AI Team and the PRISM Team, Samsung R&amp;D Institute India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1008</Words>
  <Application>Microsoft Office PowerPoint</Application>
  <PresentationFormat>Widescreen</PresentationFormat>
  <Paragraphs>229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Krishna ‌‌‍</cp:lastModifiedBy>
  <cp:revision>18</cp:revision>
  <dcterms:created xsi:type="dcterms:W3CDTF">2026-09-07T12:01:01Z</dcterms:created>
  <dcterms:modified xsi:type="dcterms:W3CDTF">2026-09-30T16:05:14Z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